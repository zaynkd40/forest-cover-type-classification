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1" d="100"/>
          <a:sy n="141" d="100"/>
        </p:scale>
        <p:origin x="20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516055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A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Forest Cover Type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57200" y="155448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97BC62"/>
                </a:solidFill>
                <a:latin typeface="Trebuchet MS" pitchFamily="34" charset="0"/>
              </a:rPr>
              <a:t>ML Prediction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246888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AACC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Predicting forest cover from cartographic data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AACC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Roosevelt National Forest, Colorado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3401568"/>
            <a:ext cx="1828800" cy="713232"/>
          </a:xfrm>
          <a:prstGeom prst="rect">
            <a:avLst/>
          </a:prstGeom>
          <a:solidFill>
            <a:srgbClr val="2C5F2D"/>
          </a:solidFill>
          <a:ln w="12700">
            <a:solidFill>
              <a:srgbClr val="97BC6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3419856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581K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57200" y="381304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CC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514600" y="3401568"/>
            <a:ext cx="1828800" cy="713232"/>
          </a:xfrm>
          <a:prstGeom prst="rect">
            <a:avLst/>
          </a:prstGeom>
          <a:solidFill>
            <a:srgbClr val="2C5F2D"/>
          </a:solidFill>
          <a:ln w="12700">
            <a:solidFill>
              <a:srgbClr val="97BC6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514600" y="3419856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2514600" y="381304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CC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0" y="3401568"/>
            <a:ext cx="1828800" cy="713232"/>
          </a:xfrm>
          <a:prstGeom prst="rect">
            <a:avLst/>
          </a:prstGeom>
          <a:solidFill>
            <a:srgbClr val="2C5F2D"/>
          </a:solidFill>
          <a:ln w="12700">
            <a:solidFill>
              <a:srgbClr val="97BC6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572000" y="3419856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572000" y="381304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CC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629400" y="3401568"/>
            <a:ext cx="1828800" cy="713232"/>
          </a:xfrm>
          <a:prstGeom prst="rect">
            <a:avLst/>
          </a:prstGeom>
          <a:solidFill>
            <a:srgbClr val="2C5F2D"/>
          </a:solidFill>
          <a:ln w="12700">
            <a:solidFill>
              <a:srgbClr val="97BC6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629400" y="3419856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96.1%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629400" y="381304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CC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Acc.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74320" y="4462272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Dataset Overview</a:t>
            </a:r>
            <a:endParaRPr lang="en-US" sz="2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777240"/>
            <a:ext cx="5303520" cy="21031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669280" y="804672"/>
            <a:ext cx="3291840" cy="585216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5760720" y="832104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Continuous Features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760720" y="109728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DE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Elevation, slope, distances,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DE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hillshade, aspect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5669280" y="1490472"/>
            <a:ext cx="3291840" cy="585216"/>
          </a:xfrm>
          <a:prstGeom prst="rect">
            <a:avLst/>
          </a:prstGeom>
          <a:solidFill>
            <a:srgbClr val="4A7C59"/>
          </a:solidFill>
          <a:ln w="12700">
            <a:solidFill>
              <a:srgbClr val="4A7C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5760720" y="1517904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Wilderness Areas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760720" y="178308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DE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One-hot encoded binary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DE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(Rawah, Neota, Comanche, Cache)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5669280" y="2176272"/>
            <a:ext cx="3291840" cy="585216"/>
          </a:xfrm>
          <a:prstGeom prst="rect">
            <a:avLst/>
          </a:prstGeom>
          <a:solidFill>
            <a:srgbClr val="688F5E"/>
          </a:solidFill>
          <a:ln w="12700">
            <a:solidFill>
              <a:srgbClr val="688F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5760720" y="2203704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Soil Types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760720" y="246888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DE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One-hot encoded binary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DE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(high-dimensional, low signal)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5669280" y="2907792"/>
            <a:ext cx="3291840" cy="530352"/>
          </a:xfrm>
          <a:prstGeom prst="rect">
            <a:avLst/>
          </a:prstGeom>
          <a:solidFill>
            <a:srgbClr val="1A3A2A"/>
          </a:solidFill>
          <a:ln w="12700">
            <a:solidFill>
              <a:srgbClr val="97BC6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5760720" y="2926080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Class Imbalance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5760720" y="3163824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DE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Cottonwood/Willow = 0.47% (2,747 samples)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DE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Lodgepole Pine dominates at 48.76%</a:t>
            </a:r>
            <a:endParaRPr lang="en-US" sz="900" dirty="0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" y="2999232"/>
            <a:ext cx="8778240" cy="202996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 Comparison</a:t>
            </a:r>
            <a:endParaRPr lang="en-US" sz="2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749808"/>
            <a:ext cx="4937760" cy="2423160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" y="3218688"/>
            <a:ext cx="4937760" cy="182880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5349240" y="749808"/>
            <a:ext cx="3611880" cy="987552"/>
          </a:xfrm>
          <a:prstGeom prst="rect">
            <a:avLst/>
          </a:prstGeom>
          <a:solidFill>
            <a:srgbClr val="253530"/>
          </a:solidFill>
          <a:ln w="12700">
            <a:solidFill>
              <a:srgbClr val="3A55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3"/>
          <p:cNvSpPr/>
          <p:nvPr/>
        </p:nvSpPr>
        <p:spPr>
          <a:xfrm>
            <a:off x="5349240" y="749808"/>
            <a:ext cx="91440" cy="987552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4"/>
          <p:cNvSpPr/>
          <p:nvPr/>
        </p:nvSpPr>
        <p:spPr>
          <a:xfrm>
            <a:off x="5513832" y="82296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7BC6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XGBoost leads at 96.1%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5513832" y="1097280"/>
            <a:ext cx="3383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DE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Edges out Random Forest (94.6%) by ~1.5pp. Both tree methods far outperform Logistic Regression (72.5%).</a:t>
            </a:r>
            <a:endParaRPr lang="en-US" sz="1050" dirty="0"/>
          </a:p>
        </p:txBody>
      </p:sp>
      <p:sp>
        <p:nvSpPr>
          <p:cNvPr id="10" name="Shape 6"/>
          <p:cNvSpPr/>
          <p:nvPr/>
        </p:nvSpPr>
        <p:spPr>
          <a:xfrm>
            <a:off x="5349240" y="1847088"/>
            <a:ext cx="3611880" cy="987552"/>
          </a:xfrm>
          <a:prstGeom prst="rect">
            <a:avLst/>
          </a:prstGeom>
          <a:solidFill>
            <a:srgbClr val="253530"/>
          </a:solidFill>
          <a:ln w="12700">
            <a:solidFill>
              <a:srgbClr val="3A55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7"/>
          <p:cNvSpPr/>
          <p:nvPr/>
        </p:nvSpPr>
        <p:spPr>
          <a:xfrm>
            <a:off x="5349240" y="1847088"/>
            <a:ext cx="91440" cy="987552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8"/>
          <p:cNvSpPr/>
          <p:nvPr/>
        </p:nvSpPr>
        <p:spPr>
          <a:xfrm>
            <a:off x="5513832" y="192024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7BC6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LR falls behind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5513832" y="2194560"/>
            <a:ext cx="3383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DE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boundaries in elevation/terrain space are highly non-linear — beyond what a linear model can capture.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5349240" y="2944368"/>
            <a:ext cx="3611880" cy="987552"/>
          </a:xfrm>
          <a:prstGeom prst="rect">
            <a:avLst/>
          </a:prstGeom>
          <a:solidFill>
            <a:srgbClr val="253530"/>
          </a:solidFill>
          <a:ln w="12700">
            <a:solidFill>
              <a:srgbClr val="3A55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5349240" y="2944368"/>
            <a:ext cx="91440" cy="987552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2"/>
          <p:cNvSpPr/>
          <p:nvPr/>
        </p:nvSpPr>
        <p:spPr>
          <a:xfrm>
            <a:off x="5513832" y="301752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7BC6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 ran all 1000 rounds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5513832" y="3291840"/>
            <a:ext cx="3383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DE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was still decreasing at round 999. Early stopping never triggered — more estimators could push accuracy higher.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5349240" y="4041648"/>
            <a:ext cx="3611880" cy="987552"/>
          </a:xfrm>
          <a:prstGeom prst="rect">
            <a:avLst/>
          </a:prstGeom>
          <a:solidFill>
            <a:srgbClr val="253530"/>
          </a:solidFill>
          <a:ln w="12700">
            <a:solidFill>
              <a:srgbClr val="3A55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5"/>
          <p:cNvSpPr/>
          <p:nvPr/>
        </p:nvSpPr>
        <p:spPr>
          <a:xfrm>
            <a:off x="5349240" y="4041648"/>
            <a:ext cx="91440" cy="987552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6"/>
          <p:cNvSpPr/>
          <p:nvPr/>
        </p:nvSpPr>
        <p:spPr>
          <a:xfrm>
            <a:off x="5513832" y="411480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7BC6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Tree ensembles dominate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5513832" y="4389120"/>
            <a:ext cx="3383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DE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Mixed tabular data (continuous + binary features) strongly favors gradient boosting over linear approaches.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Drives Predictions? Feature Importance</a:t>
            </a:r>
            <a:endParaRPr lang="en-US" sz="2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749808"/>
            <a:ext cx="5029200" cy="4251960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21808" y="749808"/>
            <a:ext cx="3657600" cy="219456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5321808" y="3090672"/>
            <a:ext cx="3657600" cy="1920240"/>
          </a:xfrm>
          <a:prstGeom prst="rect">
            <a:avLst/>
          </a:prstGeom>
          <a:solidFill>
            <a:srgbClr val="1A3A2A"/>
          </a:solidFill>
          <a:ln w="12700">
            <a:solidFill>
              <a:srgbClr val="97BC6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3"/>
          <p:cNvSpPr/>
          <p:nvPr/>
        </p:nvSpPr>
        <p:spPr>
          <a:xfrm>
            <a:off x="5458968" y="3182112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7BC6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Insight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5458968" y="3529584"/>
            <a:ext cx="3383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Elevation alone (67.3%)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outperforms all 40 soil-type features combined (60.0%) — a gap of +7.3pp.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 to roadways and fire points rank 2nd and 3rd, showing infrastructure proximity matters more than soil classification.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Confusion Matrix &amp; Most Confused Pair</a:t>
            </a:r>
            <a:endParaRPr lang="en-US" sz="2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749808"/>
            <a:ext cx="8961120" cy="2331720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" y="3127248"/>
            <a:ext cx="5120640" cy="192024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5486400" y="3127248"/>
            <a:ext cx="3493008" cy="1920240"/>
          </a:xfrm>
          <a:prstGeom prst="rect">
            <a:avLst/>
          </a:prstGeom>
          <a:solidFill>
            <a:srgbClr val="1A3A2A"/>
          </a:solidFill>
          <a:ln w="12700">
            <a:solidFill>
              <a:srgbClr val="97BC6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3"/>
          <p:cNvSpPr/>
          <p:nvPr/>
        </p:nvSpPr>
        <p:spPr>
          <a:xfrm>
            <a:off x="5596128" y="3218688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7BC6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Spruce/Fir ↔ Lodgepole Pine?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5596128" y="3611880"/>
            <a:ext cx="3291840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DE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1,411 Spruce/Fir samples misclassified as Lodgepole Pine — the most common error.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DDE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species share heavily overlapping elevation bands (~2800–3300m). With similar slope and aspect, even XGBoost struggles to draw a clean boundary.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Wilderness Area Difficulty  &amp;  Learning Curve</a:t>
            </a:r>
            <a:endParaRPr lang="en-US" sz="2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777240"/>
            <a:ext cx="4297680" cy="2331720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3440" y="777240"/>
            <a:ext cx="4343400" cy="233172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182880" y="3291840"/>
            <a:ext cx="4251960" cy="1783080"/>
          </a:xfrm>
          <a:prstGeom prst="rect">
            <a:avLst/>
          </a:prstGeom>
          <a:solidFill>
            <a:srgbClr val="1A3A2A"/>
          </a:solidFill>
          <a:ln w="12700">
            <a:solidFill>
              <a:srgbClr val="97BC6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3"/>
          <p:cNvSpPr/>
          <p:nvPr/>
        </p:nvSpPr>
        <p:spPr>
          <a:xfrm>
            <a:off x="182880" y="3291840"/>
            <a:ext cx="91440" cy="1783080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4"/>
          <p:cNvSpPr/>
          <p:nvPr/>
        </p:nvSpPr>
        <p:spPr>
          <a:xfrm>
            <a:off x="365760" y="33832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7BC6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Area 4 is Hardest (barely)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365760" y="3712464"/>
            <a:ext cx="3931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DE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la Poudre has the most diverse cover mix — Ponderosa, Douglas-fir, and Cottonwood alongside the dominant types. All areas perform within ~2% of each other (~96%), so difficulty differences are small.</a:t>
            </a:r>
            <a:endParaRPr lang="en-US" sz="1050" dirty="0"/>
          </a:p>
        </p:txBody>
      </p:sp>
      <p:sp>
        <p:nvSpPr>
          <p:cNvPr id="10" name="Shape 6"/>
          <p:cNvSpPr/>
          <p:nvPr/>
        </p:nvSpPr>
        <p:spPr>
          <a:xfrm>
            <a:off x="4754880" y="3291840"/>
            <a:ext cx="4251960" cy="1783080"/>
          </a:xfrm>
          <a:prstGeom prst="rect">
            <a:avLst/>
          </a:prstGeom>
          <a:solidFill>
            <a:srgbClr val="1A3A2A"/>
          </a:solidFill>
          <a:ln w="12700">
            <a:solidFill>
              <a:srgbClr val="97BC6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7"/>
          <p:cNvSpPr/>
          <p:nvPr/>
        </p:nvSpPr>
        <p:spPr>
          <a:xfrm>
            <a:off x="4754880" y="3291840"/>
            <a:ext cx="91440" cy="1783080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8"/>
          <p:cNvSpPr/>
          <p:nvPr/>
        </p:nvSpPr>
        <p:spPr>
          <a:xfrm>
            <a:off x="4937760" y="33832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7BC6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 is data-hungry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4937760" y="3712464"/>
            <a:ext cx="3931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DE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accuracy was still rising at 280K samples with no plateau visible. More training data would likely push accuracy beyond 96.1% — the model is not yet data-saturated.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Non-obvious Insight: Cottonwood/Willow</a:t>
            </a:r>
            <a:endParaRPr lang="en-US" sz="2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749808"/>
            <a:ext cx="5486400" cy="2286000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" y="3063240"/>
            <a:ext cx="5486400" cy="201168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5760720" y="804672"/>
            <a:ext cx="3200400" cy="914400"/>
          </a:xfrm>
          <a:prstGeom prst="rect">
            <a:avLst/>
          </a:prstGeom>
          <a:solidFill>
            <a:srgbClr val="1A3A2A"/>
          </a:solidFill>
          <a:ln w="12700">
            <a:solidFill>
              <a:srgbClr val="97BC6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3"/>
          <p:cNvSpPr/>
          <p:nvPr/>
        </p:nvSpPr>
        <p:spPr>
          <a:xfrm>
            <a:off x="5870448" y="868680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 Lowest Elevation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5870448" y="1133856"/>
            <a:ext cx="2926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DE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Grows ~850m lower than Krummholz and far below the Spruce/Fir band. Most extreme elevation z-score of any feature (-2.68).</a:t>
            </a:r>
            <a:endParaRPr lang="en-US" sz="950" dirty="0"/>
          </a:p>
        </p:txBody>
      </p:sp>
      <p:sp>
        <p:nvSpPr>
          <p:cNvPr id="9" name="Shape 5"/>
          <p:cNvSpPr/>
          <p:nvPr/>
        </p:nvSpPr>
        <p:spPr>
          <a:xfrm>
            <a:off x="5760720" y="1874520"/>
            <a:ext cx="3200400" cy="914400"/>
          </a:xfrm>
          <a:prstGeom prst="rect">
            <a:avLst/>
          </a:prstGeom>
          <a:solidFill>
            <a:srgbClr val="2C5F2D"/>
          </a:solidFill>
          <a:ln w="12700">
            <a:solidFill>
              <a:srgbClr val="97BC6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6"/>
          <p:cNvSpPr/>
          <p:nvPr/>
        </p:nvSpPr>
        <p:spPr>
          <a:xfrm>
            <a:off x="5870448" y="1938528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💧  Water Proximity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5870448" y="2203704"/>
            <a:ext cx="2926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DE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Closest to both horizontal and vertical water sources. Riparian species grow along waterways — this is its ecological fingerprint.</a:t>
            </a:r>
            <a:endParaRPr lang="en-US" sz="950" dirty="0"/>
          </a:p>
        </p:txBody>
      </p:sp>
      <p:sp>
        <p:nvSpPr>
          <p:cNvPr id="12" name="Shape 8"/>
          <p:cNvSpPr/>
          <p:nvPr/>
        </p:nvSpPr>
        <p:spPr>
          <a:xfrm>
            <a:off x="5760720" y="2944368"/>
            <a:ext cx="3200400" cy="914400"/>
          </a:xfrm>
          <a:prstGeom prst="rect">
            <a:avLst/>
          </a:prstGeom>
          <a:solidFill>
            <a:srgbClr val="1A3A2A"/>
          </a:solidFill>
          <a:ln w="12700">
            <a:solidFill>
              <a:srgbClr val="97BC6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9"/>
          <p:cNvSpPr/>
          <p:nvPr/>
        </p:nvSpPr>
        <p:spPr>
          <a:xfrm>
            <a:off x="5870448" y="3008376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☀  Hillshade &amp; Slope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5870448" y="3273552"/>
            <a:ext cx="2926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DE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deviates on Hillshade_3pm and Slope, consistent with valley/riparian terrain that receives different sun angles.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5760720" y="4014216"/>
            <a:ext cx="3200400" cy="914400"/>
          </a:xfrm>
          <a:prstGeom prst="rect">
            <a:avLst/>
          </a:prstGeom>
          <a:solidFill>
            <a:srgbClr val="2C5F2D"/>
          </a:solidFill>
          <a:ln w="12700">
            <a:solidFill>
              <a:srgbClr val="97BC6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2"/>
          <p:cNvSpPr/>
          <p:nvPr/>
        </p:nvSpPr>
        <p:spPr>
          <a:xfrm>
            <a:off x="5870448" y="4078224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Identifiable Despite Rarity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5870448" y="4343400"/>
            <a:ext cx="2926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DE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0.47% of samples (2,747), yet unique feature profile gives it 86% recall — model can find it despite extreme class imbalance.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3A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18288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97BC6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Conclusions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932688"/>
            <a:ext cx="4224528" cy="1188720"/>
          </a:xfrm>
          <a:prstGeom prst="rect">
            <a:avLst/>
          </a:prstGeom>
          <a:solidFill>
            <a:srgbClr val="253530"/>
          </a:solidFill>
          <a:ln w="12700">
            <a:solidFill>
              <a:srgbClr val="3A55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932688"/>
            <a:ext cx="457200" cy="118872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932688"/>
            <a:ext cx="457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97BC6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102412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Elevation is the #1 predictor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914400" y="1325880"/>
            <a:ext cx="3566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ACC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feature (67.3%) beats all 40 soil types combined (60.0%). Geography outweighs geology.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828032" y="932688"/>
            <a:ext cx="4224528" cy="1188720"/>
          </a:xfrm>
          <a:prstGeom prst="rect">
            <a:avLst/>
          </a:prstGeom>
          <a:solidFill>
            <a:srgbClr val="253530"/>
          </a:solidFill>
          <a:ln w="12700">
            <a:solidFill>
              <a:srgbClr val="3A55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828032" y="932688"/>
            <a:ext cx="457200" cy="118872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828032" y="932688"/>
            <a:ext cx="457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97BC6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376672" y="102412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wins at 96.1%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376672" y="1325880"/>
            <a:ext cx="3566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ACC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 outperforms RF (94.6%) and LR (72.5%). Tree ensembles dominate tabular mixed-feature data.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2304288"/>
            <a:ext cx="4224528" cy="1188720"/>
          </a:xfrm>
          <a:prstGeom prst="rect">
            <a:avLst/>
          </a:prstGeom>
          <a:solidFill>
            <a:srgbClr val="253530"/>
          </a:solidFill>
          <a:ln w="12700">
            <a:solidFill>
              <a:srgbClr val="3A55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65760" y="2304288"/>
            <a:ext cx="457200" cy="118872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65760" y="2304288"/>
            <a:ext cx="457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97BC6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14400" y="239572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Spruce/Fir ↔ Lodgepole Pine: hardest pair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914400" y="2697480"/>
            <a:ext cx="3566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ACC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1,411 misclassifications driven by overlapping elevation ranges (~2800–3300m) and similar terrain profiles.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828032" y="2304288"/>
            <a:ext cx="4224528" cy="1188720"/>
          </a:xfrm>
          <a:prstGeom prst="rect">
            <a:avLst/>
          </a:prstGeom>
          <a:solidFill>
            <a:srgbClr val="253530"/>
          </a:solidFill>
          <a:ln w="12700">
            <a:solidFill>
              <a:srgbClr val="3A55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828032" y="2304288"/>
            <a:ext cx="457200" cy="118872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828032" y="2304288"/>
            <a:ext cx="457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97BC6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376672" y="239572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Wilderness areas all classify well (~96%)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376672" y="2697480"/>
            <a:ext cx="3566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ACC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 4 (Cache la Poudre) is marginally hardest at 95.8% due to diverse cover mix, but all areas are within 2%.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65760" y="3675888"/>
            <a:ext cx="4224528" cy="1188720"/>
          </a:xfrm>
          <a:prstGeom prst="rect">
            <a:avLst/>
          </a:prstGeom>
          <a:solidFill>
            <a:srgbClr val="253530"/>
          </a:solidFill>
          <a:ln w="12700">
            <a:solidFill>
              <a:srgbClr val="3A55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365760" y="3675888"/>
            <a:ext cx="457200" cy="118872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365760" y="3675888"/>
            <a:ext cx="457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97BC6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914400" y="376732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Cottonwood/Willow: riparian specialist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914400" y="4069080"/>
            <a:ext cx="3566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ACC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Extreme low-elevation + water-proximity z-scores reveal its ecology. 86% recall despite being only 0.47% of data.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828032" y="3675888"/>
            <a:ext cx="4224528" cy="1188720"/>
          </a:xfrm>
          <a:prstGeom prst="rect">
            <a:avLst/>
          </a:prstGeom>
          <a:solidFill>
            <a:srgbClr val="253530"/>
          </a:solidFill>
          <a:ln w="12700">
            <a:solidFill>
              <a:srgbClr val="3A55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4828032" y="3675888"/>
            <a:ext cx="457200" cy="118872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828032" y="3675888"/>
            <a:ext cx="457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97BC6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06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376672" y="376732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is data-hungry — no plateau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5376672" y="4069080"/>
            <a:ext cx="3566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ACC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curve still rising at 280K samples. More training data would likely push accuracy beyond 96.1%.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274320" y="4791456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659</Words>
  <Application>Microsoft Office PowerPoint</Application>
  <PresentationFormat>On-screen Show (16:9)</PresentationFormat>
  <Paragraphs>85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Forest Cover Type Challenge</dc:title>
  <dc:subject>PptxGenJS Presentation</dc:subject>
  <dc:creator>PptxGenJS</dc:creator>
  <cp:lastModifiedBy>Zain Barnes</cp:lastModifiedBy>
  <cp:revision>2</cp:revision>
  <dcterms:created xsi:type="dcterms:W3CDTF">2026-03-12T19:00:11Z</dcterms:created>
  <dcterms:modified xsi:type="dcterms:W3CDTF">2026-05-24T01:13:01Z</dcterms:modified>
</cp:coreProperties>
</file>